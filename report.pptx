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57" r:id="rId5"/>
    <p:sldId id="258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46009B-C91A-4C7D-A06D-8E0433EA999D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571479A-B934-4300-B4DA-8A64D6CA3BDE}">
      <dgm:prSet/>
      <dgm:spPr/>
      <dgm:t>
        <a:bodyPr/>
        <a:lstStyle/>
        <a:p>
          <a:r>
            <a:rPr lang="en-US"/>
            <a:t>What starts as a simple "Yes/No" can expand into thousands of distinct branches.</a:t>
          </a:r>
        </a:p>
      </dgm:t>
    </dgm:pt>
    <dgm:pt modelId="{ED7B0D99-DEB9-48D0-858C-8E5A6C0FA400}" type="parTrans" cxnId="{FB3A43D9-E735-4A14-B199-846047E5F9DD}">
      <dgm:prSet/>
      <dgm:spPr/>
      <dgm:t>
        <a:bodyPr/>
        <a:lstStyle/>
        <a:p>
          <a:endParaRPr lang="en-US"/>
        </a:p>
      </dgm:t>
    </dgm:pt>
    <dgm:pt modelId="{AAAD1F8C-612D-411C-B69C-FF706AA229C5}" type="sibTrans" cxnId="{FB3A43D9-E735-4A14-B199-846047E5F9DD}">
      <dgm:prSet/>
      <dgm:spPr/>
      <dgm:t>
        <a:bodyPr/>
        <a:lstStyle/>
        <a:p>
          <a:endParaRPr lang="en-US"/>
        </a:p>
      </dgm:t>
    </dgm:pt>
    <dgm:pt modelId="{4899B9B9-C334-4774-9318-B4293F0CAE81}">
      <dgm:prSet/>
      <dgm:spPr/>
      <dgm:t>
        <a:bodyPr/>
        <a:lstStyle/>
        <a:p>
          <a:r>
            <a:rPr lang="en-US"/>
            <a:t>Every subtle environmental change (weather, health, distance, reputation) can be a new node.</a:t>
          </a:r>
        </a:p>
      </dgm:t>
    </dgm:pt>
    <dgm:pt modelId="{5717E8BD-E140-4C90-AC1A-BFE4E53446AF}" type="parTrans" cxnId="{EFBA75FE-6097-4065-B6EF-9BEE9694D3FA}">
      <dgm:prSet/>
      <dgm:spPr/>
      <dgm:t>
        <a:bodyPr/>
        <a:lstStyle/>
        <a:p>
          <a:endParaRPr lang="en-US"/>
        </a:p>
      </dgm:t>
    </dgm:pt>
    <dgm:pt modelId="{D51493EA-EA33-4C35-9C03-4647A03B2C23}" type="sibTrans" cxnId="{EFBA75FE-6097-4065-B6EF-9BEE9694D3FA}">
      <dgm:prSet/>
      <dgm:spPr/>
      <dgm:t>
        <a:bodyPr/>
        <a:lstStyle/>
        <a:p>
          <a:endParaRPr lang="en-US"/>
        </a:p>
      </dgm:t>
    </dgm:pt>
    <dgm:pt modelId="{BF7B4A56-44CD-4EC1-9715-4F921A0BD647}">
      <dgm:prSet/>
      <dgm:spPr/>
      <dgm:t>
        <a:bodyPr/>
        <a:lstStyle/>
        <a:p>
          <a:r>
            <a:rPr lang="en-US"/>
            <a:t>Capable of mapping millions of unique scenarios, transforming a simple "guard" into a complex, living character.</a:t>
          </a:r>
        </a:p>
      </dgm:t>
    </dgm:pt>
    <dgm:pt modelId="{409F0CDB-3B4E-4F96-B8B8-C248D6DE0819}" type="parTrans" cxnId="{E8313664-4F06-4248-B830-9F4421F9356D}">
      <dgm:prSet/>
      <dgm:spPr/>
      <dgm:t>
        <a:bodyPr/>
        <a:lstStyle/>
        <a:p>
          <a:endParaRPr lang="en-US"/>
        </a:p>
      </dgm:t>
    </dgm:pt>
    <dgm:pt modelId="{35399BE2-2010-43BF-8E20-8FCBF3ED97D1}" type="sibTrans" cxnId="{E8313664-4F06-4248-B830-9F4421F9356D}">
      <dgm:prSet/>
      <dgm:spPr/>
      <dgm:t>
        <a:bodyPr/>
        <a:lstStyle/>
        <a:p>
          <a:endParaRPr lang="en-US"/>
        </a:p>
      </dgm:t>
    </dgm:pt>
    <dgm:pt modelId="{FAD6938D-867D-4257-BD10-0C52F5E291E0}">
      <dgm:prSet/>
      <dgm:spPr/>
      <dgm:t>
        <a:bodyPr/>
        <a:lstStyle/>
        <a:p>
          <a:r>
            <a:rPr lang="en-US" b="1"/>
            <a:t>Conclusion:</a:t>
          </a:r>
          <a:r>
            <a:rPr lang="en-US"/>
            <a:t> </a:t>
          </a:r>
          <a:r>
            <a:rPr lang="en-US" b="1"/>
            <a:t>One structure, infinite outcomes.</a:t>
          </a:r>
          <a:endParaRPr lang="en-US"/>
        </a:p>
      </dgm:t>
    </dgm:pt>
    <dgm:pt modelId="{3626C16B-83FC-47D3-8654-614E917328FD}" type="parTrans" cxnId="{6FF6EA74-7B93-4533-8D81-A44334BC9C2C}">
      <dgm:prSet/>
      <dgm:spPr/>
      <dgm:t>
        <a:bodyPr/>
        <a:lstStyle/>
        <a:p>
          <a:endParaRPr lang="en-US"/>
        </a:p>
      </dgm:t>
    </dgm:pt>
    <dgm:pt modelId="{80AA17E0-674E-4F75-BEB6-B8F76DFFCB62}" type="sibTrans" cxnId="{6FF6EA74-7B93-4533-8D81-A44334BC9C2C}">
      <dgm:prSet/>
      <dgm:spPr/>
      <dgm:t>
        <a:bodyPr/>
        <a:lstStyle/>
        <a:p>
          <a:endParaRPr lang="en-US"/>
        </a:p>
      </dgm:t>
    </dgm:pt>
    <dgm:pt modelId="{59B7E23E-2474-4CBE-B37F-884ED2478A4B}" type="pres">
      <dgm:prSet presAssocID="{2446009B-C91A-4C7D-A06D-8E0433EA999D}" presName="matrix" presStyleCnt="0">
        <dgm:presLayoutVars>
          <dgm:chMax val="1"/>
          <dgm:dir/>
          <dgm:resizeHandles val="exact"/>
        </dgm:presLayoutVars>
      </dgm:prSet>
      <dgm:spPr/>
    </dgm:pt>
    <dgm:pt modelId="{053A1D50-5B22-4895-9509-F7B915E43AC3}" type="pres">
      <dgm:prSet presAssocID="{2446009B-C91A-4C7D-A06D-8E0433EA999D}" presName="diamond" presStyleLbl="bgShp" presStyleIdx="0" presStyleCnt="1"/>
      <dgm:spPr/>
    </dgm:pt>
    <dgm:pt modelId="{24710CAD-C712-48C0-978B-DB593143EADD}" type="pres">
      <dgm:prSet presAssocID="{2446009B-C91A-4C7D-A06D-8E0433EA999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2C27FD6-9BD9-41D6-A812-76D179A1E13F}" type="pres">
      <dgm:prSet presAssocID="{2446009B-C91A-4C7D-A06D-8E0433EA999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AB1C9CA-7AB9-4065-B76B-619EF585DF94}" type="pres">
      <dgm:prSet presAssocID="{2446009B-C91A-4C7D-A06D-8E0433EA999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BDB10E9-D8B9-4C30-9A74-020C91D66F8F}" type="pres">
      <dgm:prSet presAssocID="{2446009B-C91A-4C7D-A06D-8E0433EA999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C971060-A7FE-4995-A427-D91EE9F0CBDE}" type="presOf" srcId="{BF7B4A56-44CD-4EC1-9715-4F921A0BD647}" destId="{2AB1C9CA-7AB9-4065-B76B-619EF585DF94}" srcOrd="0" destOrd="0" presId="urn:microsoft.com/office/officeart/2005/8/layout/matrix3"/>
    <dgm:cxn modelId="{E8313664-4F06-4248-B830-9F4421F9356D}" srcId="{2446009B-C91A-4C7D-A06D-8E0433EA999D}" destId="{BF7B4A56-44CD-4EC1-9715-4F921A0BD647}" srcOrd="2" destOrd="0" parTransId="{409F0CDB-3B4E-4F96-B8B8-C248D6DE0819}" sibTransId="{35399BE2-2010-43BF-8E20-8FCBF3ED97D1}"/>
    <dgm:cxn modelId="{6FF6EA74-7B93-4533-8D81-A44334BC9C2C}" srcId="{2446009B-C91A-4C7D-A06D-8E0433EA999D}" destId="{FAD6938D-867D-4257-BD10-0C52F5E291E0}" srcOrd="3" destOrd="0" parTransId="{3626C16B-83FC-47D3-8654-614E917328FD}" sibTransId="{80AA17E0-674E-4F75-BEB6-B8F76DFFCB62}"/>
    <dgm:cxn modelId="{14F91082-92EB-41AD-9C87-C67908BAEC97}" type="presOf" srcId="{FAD6938D-867D-4257-BD10-0C52F5E291E0}" destId="{9BDB10E9-D8B9-4C30-9A74-020C91D66F8F}" srcOrd="0" destOrd="0" presId="urn:microsoft.com/office/officeart/2005/8/layout/matrix3"/>
    <dgm:cxn modelId="{FE605185-AD32-46AC-9429-85C94982D280}" type="presOf" srcId="{4899B9B9-C334-4774-9318-B4293F0CAE81}" destId="{F2C27FD6-9BD9-41D6-A812-76D179A1E13F}" srcOrd="0" destOrd="0" presId="urn:microsoft.com/office/officeart/2005/8/layout/matrix3"/>
    <dgm:cxn modelId="{54E8C287-C34E-4D9B-85EE-DAF4F578CC2D}" type="presOf" srcId="{2446009B-C91A-4C7D-A06D-8E0433EA999D}" destId="{59B7E23E-2474-4CBE-B37F-884ED2478A4B}" srcOrd="0" destOrd="0" presId="urn:microsoft.com/office/officeart/2005/8/layout/matrix3"/>
    <dgm:cxn modelId="{F4A90C8C-288C-48FA-BFA3-1E34B4B56F35}" type="presOf" srcId="{9571479A-B934-4300-B4DA-8A64D6CA3BDE}" destId="{24710CAD-C712-48C0-978B-DB593143EADD}" srcOrd="0" destOrd="0" presId="urn:microsoft.com/office/officeart/2005/8/layout/matrix3"/>
    <dgm:cxn modelId="{FB3A43D9-E735-4A14-B199-846047E5F9DD}" srcId="{2446009B-C91A-4C7D-A06D-8E0433EA999D}" destId="{9571479A-B934-4300-B4DA-8A64D6CA3BDE}" srcOrd="0" destOrd="0" parTransId="{ED7B0D99-DEB9-48D0-858C-8E5A6C0FA400}" sibTransId="{AAAD1F8C-612D-411C-B69C-FF706AA229C5}"/>
    <dgm:cxn modelId="{EFBA75FE-6097-4065-B6EF-9BEE9694D3FA}" srcId="{2446009B-C91A-4C7D-A06D-8E0433EA999D}" destId="{4899B9B9-C334-4774-9318-B4293F0CAE81}" srcOrd="1" destOrd="0" parTransId="{5717E8BD-E140-4C90-AC1A-BFE4E53446AF}" sibTransId="{D51493EA-EA33-4C35-9C03-4647A03B2C23}"/>
    <dgm:cxn modelId="{E7A8C66E-E824-4CEC-9B9E-F8BEB061D746}" type="presParOf" srcId="{59B7E23E-2474-4CBE-B37F-884ED2478A4B}" destId="{053A1D50-5B22-4895-9509-F7B915E43AC3}" srcOrd="0" destOrd="0" presId="urn:microsoft.com/office/officeart/2005/8/layout/matrix3"/>
    <dgm:cxn modelId="{FCFE253C-F5A4-4171-B360-F084A0B8FF42}" type="presParOf" srcId="{59B7E23E-2474-4CBE-B37F-884ED2478A4B}" destId="{24710CAD-C712-48C0-978B-DB593143EADD}" srcOrd="1" destOrd="0" presId="urn:microsoft.com/office/officeart/2005/8/layout/matrix3"/>
    <dgm:cxn modelId="{A46E3022-EC66-4344-AC17-22B12C064CC0}" type="presParOf" srcId="{59B7E23E-2474-4CBE-B37F-884ED2478A4B}" destId="{F2C27FD6-9BD9-41D6-A812-76D179A1E13F}" srcOrd="2" destOrd="0" presId="urn:microsoft.com/office/officeart/2005/8/layout/matrix3"/>
    <dgm:cxn modelId="{6F58A121-5895-4732-95EF-C602DD31B62C}" type="presParOf" srcId="{59B7E23E-2474-4CBE-B37F-884ED2478A4B}" destId="{2AB1C9CA-7AB9-4065-B76B-619EF585DF94}" srcOrd="3" destOrd="0" presId="urn:microsoft.com/office/officeart/2005/8/layout/matrix3"/>
    <dgm:cxn modelId="{90D009C8-D02D-40CB-AE51-B406B449C6B2}" type="presParOf" srcId="{59B7E23E-2474-4CBE-B37F-884ED2478A4B}" destId="{9BDB10E9-D8B9-4C30-9A74-020C91D66F8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3A1D50-5B22-4895-9509-F7B915E43AC3}">
      <dsp:nvSpPr>
        <dsp:cNvPr id="0" name=""/>
        <dsp:cNvSpPr/>
      </dsp:nvSpPr>
      <dsp:spPr>
        <a:xfrm>
          <a:off x="682185" y="0"/>
          <a:ext cx="5536141" cy="5536141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710CAD-C712-48C0-978B-DB593143EADD}">
      <dsp:nvSpPr>
        <dsp:cNvPr id="0" name=""/>
        <dsp:cNvSpPr/>
      </dsp:nvSpPr>
      <dsp:spPr>
        <a:xfrm>
          <a:off x="1208118" y="525933"/>
          <a:ext cx="2159094" cy="215909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What starts as a simple "Yes/No" can expand into thousands of distinct branches.</a:t>
          </a:r>
        </a:p>
      </dsp:txBody>
      <dsp:txXfrm>
        <a:off x="1313516" y="631331"/>
        <a:ext cx="1948298" cy="1948298"/>
      </dsp:txXfrm>
    </dsp:sp>
    <dsp:sp modelId="{F2C27FD6-9BD9-41D6-A812-76D179A1E13F}">
      <dsp:nvSpPr>
        <dsp:cNvPr id="0" name=""/>
        <dsp:cNvSpPr/>
      </dsp:nvSpPr>
      <dsp:spPr>
        <a:xfrm>
          <a:off x="3533298" y="525933"/>
          <a:ext cx="2159094" cy="215909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Every subtle environmental change (weather, health, distance, reputation) can be a new node.</a:t>
          </a:r>
        </a:p>
      </dsp:txBody>
      <dsp:txXfrm>
        <a:off x="3638696" y="631331"/>
        <a:ext cx="1948298" cy="1948298"/>
      </dsp:txXfrm>
    </dsp:sp>
    <dsp:sp modelId="{2AB1C9CA-7AB9-4065-B76B-619EF585DF94}">
      <dsp:nvSpPr>
        <dsp:cNvPr id="0" name=""/>
        <dsp:cNvSpPr/>
      </dsp:nvSpPr>
      <dsp:spPr>
        <a:xfrm>
          <a:off x="1208118" y="2851112"/>
          <a:ext cx="2159094" cy="215909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Capable of mapping millions of unique scenarios, transforming a simple "guard" into a complex, living character.</a:t>
          </a:r>
        </a:p>
      </dsp:txBody>
      <dsp:txXfrm>
        <a:off x="1313516" y="2956510"/>
        <a:ext cx="1948298" cy="1948298"/>
      </dsp:txXfrm>
    </dsp:sp>
    <dsp:sp modelId="{9BDB10E9-D8B9-4C30-9A74-020C91D66F8F}">
      <dsp:nvSpPr>
        <dsp:cNvPr id="0" name=""/>
        <dsp:cNvSpPr/>
      </dsp:nvSpPr>
      <dsp:spPr>
        <a:xfrm>
          <a:off x="3533298" y="2851112"/>
          <a:ext cx="2159094" cy="215909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Conclusion:</a:t>
          </a:r>
          <a:r>
            <a:rPr lang="en-US" sz="1600" kern="1200"/>
            <a:t> </a:t>
          </a:r>
          <a:r>
            <a:rPr lang="en-US" sz="1600" b="1" kern="1200"/>
            <a:t>One structure, infinite outcomes.</a:t>
          </a:r>
          <a:endParaRPr lang="en-US" sz="1600" kern="1200"/>
        </a:p>
      </dsp:txBody>
      <dsp:txXfrm>
        <a:off x="3638696" y="2956510"/>
        <a:ext cx="1948298" cy="19482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EC49FC-E526-3561-F301-5F287D81D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0B5F4FB-120E-0CCA-2640-87A236C21D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CN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7B2BE2-4AB1-9532-3C4B-1B9AC2CDE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35F21-D8D9-4421-B43E-5BF54D7D5073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F0926D-18C1-7B5F-EECB-2090E1461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4D4A4D-5C98-BACF-7CC3-6A7098146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9815-AAA7-4466-AB36-C273EC97C2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04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24E2C2-50E5-8CD1-6590-9F090B6D0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6991DA-C995-6ABB-4333-377A020D1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7EBABA-6491-9BBD-C768-69B567A97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35F21-D8D9-4421-B43E-5BF54D7D5073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1B0A33-B553-3362-6724-35C2B434B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0434A3-3D55-4A3F-563D-7232CAA38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9815-AAA7-4466-AB36-C273EC97C2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901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B1D469-2EC4-5FB9-1FBE-9B1C1CAC5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B5AE222-BAF1-9950-57DC-F8C741824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E9DDEF-0291-89EE-2FFA-6D35BBCC1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35F21-D8D9-4421-B43E-5BF54D7D5073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274AA2-9510-0246-BF1B-80CDB9072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26E428-77F9-9B53-79CA-AB9B3D48B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9815-AAA7-4466-AB36-C273EC97C2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567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E28387-ED65-2B72-F719-D8111C54D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773065-C0C3-31B3-FA3F-32E6369EA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F6E5153-0BA5-63F8-84E9-61C164AA9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191698D-2AA1-5067-206E-135869DF8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35F21-D8D9-4421-B43E-5BF54D7D5073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788164-8D5C-E25B-01F1-D6B06DE31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81549F0-7A11-0D3A-49C7-9A9C74419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9815-AAA7-4466-AB36-C273EC97C2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497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096208-A722-73CD-02B3-2B3D4A899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19AE308-0A82-1B99-167E-A61B3FF9E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E3EC5D0-86B3-1422-645D-B0534D96A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F8A2B64-E0F6-B17C-F552-B9EDF91F24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F5578B8-121E-8A68-361A-A50C1851D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2FF813C-D1AC-258C-7CDB-DDE060E69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35F21-D8D9-4421-B43E-5BF54D7D5073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71E189D-E494-8E19-C7DD-B61119162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C3D000B-90D6-8DF4-02F1-0DF8714B4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9815-AAA7-4466-AB36-C273EC97C2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644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F9DC5E-99BF-E199-AA75-1E87C04C1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FA16EAF-816D-D688-7C51-F8F60537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35F21-D8D9-4421-B43E-5BF54D7D5073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46C7BB2-D902-2E4A-1DD6-B77FE4260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CC2B819-A2AE-E70B-AA5C-9B37C01A9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9815-AAA7-4466-AB36-C273EC97C2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682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AACBA19-7DC3-37E6-CD53-834E99A55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35F21-D8D9-4421-B43E-5BF54D7D5073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68CAEB5-B996-8A62-D091-28E9FC7C0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A333D1-A2C6-8E9F-C1EE-DDE9CEAA2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9815-AAA7-4466-AB36-C273EC97C2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74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B8D920-4F0C-3388-9969-E83C77071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43964A-05FD-D2D6-151E-BC0AC367F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0E5B5CE-D412-0E2E-F865-CCA83B8D7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1F5E28D-A304-20A6-B3DE-A8D15D83C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35F21-D8D9-4421-B43E-5BF54D7D5073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F685834-4318-D3E9-4D92-B90A2ADC0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B6C9928-6C28-05D5-3459-E0C9C232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9815-AAA7-4466-AB36-C273EC97C2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014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3C5304-9EA7-7990-F753-4FF714A14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A239C64-CCB4-8CD4-59E2-B622B8D43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CE5AD08-E44D-568F-9B22-A113AD476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D954CCB-9359-74E3-016F-A5AE52F63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35F21-D8D9-4421-B43E-5BF54D7D5073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F8B43B9-7679-B43D-DE3F-203800AE0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034DEEE-02CA-8FB3-6972-90AD63453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9815-AAA7-4466-AB36-C273EC97C2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39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C9A7DE-5B1C-EC76-75BD-A84F5998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D9EAA6F-038B-3620-386E-36DDE4C48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3CFC78B-644F-52B7-DE7C-59697C944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35F21-D8D9-4421-B43E-5BF54D7D5073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740105-B492-60A4-C405-D20F3E0E7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96EC05-92B1-1900-3816-6A2B8FCA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9815-AAA7-4466-AB36-C273EC97C2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468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E531B08-1FE3-133A-74AB-BAC15C0AD9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1252754-2FE5-8621-866C-8EB5702D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65AB09-6FBE-AEC4-B4CF-9635824BF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35F21-D8D9-4421-B43E-5BF54D7D5073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7A4CCA-DD6C-A86A-C114-791F31C3F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85D007-D2E6-5D53-B89E-51139A17D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89815-AAA7-4466-AB36-C273EC97C2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8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7820D50-0EF9-3351-5A52-BCF85B179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4243DB-85BD-2F9E-781E-EE4D85B7C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3A9A9C-22AC-318F-9B25-78FF8BFD31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35F21-D8D9-4421-B43E-5BF54D7D5073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835E68-A4F1-6F5A-FC95-AFD313BF8C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774AFC-FB85-3F21-9699-D38A1189DB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89815-AAA7-4466-AB36-C273EC97C2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113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像大腦形狀的電路角度視圖">
            <a:extLst>
              <a:ext uri="{FF2B5EF4-FFF2-40B4-BE49-F238E27FC236}">
                <a16:creationId xmlns:a16="http://schemas.microsoft.com/office/drawing/2014/main" id="{81A0FA6E-714A-0D21-FF1C-8CFE2216D3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35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5F65838-9F01-A0A0-027A-423A00966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0528" y="2299176"/>
            <a:ext cx="4131368" cy="1571164"/>
          </a:xfrm>
        </p:spPr>
        <p:txBody>
          <a:bodyPr anchor="t">
            <a:normAutofit/>
          </a:bodyPr>
          <a:lstStyle/>
          <a:p>
            <a:pPr algn="l"/>
            <a:r>
              <a:rPr lang="en-US" altLang="zh-CN" sz="3600" dirty="0"/>
              <a:t>AI Behavior Tree</a:t>
            </a:r>
            <a:endParaRPr lang="zh-CN" altLang="en-US" sz="36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7404B2C-4BDF-F279-879D-AF06081B8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0529" y="4199213"/>
            <a:ext cx="4191938" cy="598548"/>
          </a:xfrm>
        </p:spPr>
        <p:txBody>
          <a:bodyPr anchor="ctr">
            <a:normAutofit/>
          </a:bodyPr>
          <a:lstStyle/>
          <a:p>
            <a:pPr algn="l"/>
            <a:r>
              <a:rPr lang="en-US" altLang="zh-CN" sz="1800"/>
              <a:t>Zening Teng</a:t>
            </a:r>
            <a:endParaRPr lang="zh-CN" altLang="en-US" sz="18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08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AA7271-31FE-C697-B141-6DE066F97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altLang="zh-CN" sz="3200">
                <a:latin typeface="Times New Roman" panose="02020603050405020304" pitchFamily="18" charset="0"/>
                <a:cs typeface="Times New Roman" panose="02020603050405020304" pitchFamily="18" charset="0"/>
              </a:rPr>
              <a:t>AI Behavior Tree</a:t>
            </a:r>
            <a:endParaRPr lang="zh-CN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含線條的語音氣泡圖示">
            <a:extLst>
              <a:ext uri="{FF2B5EF4-FFF2-40B4-BE49-F238E27FC236}">
                <a16:creationId xmlns:a16="http://schemas.microsoft.com/office/drawing/2014/main" id="{B3FF08EE-DCC2-292A-0D20-26DEE22E38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21" r="11567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EDE1C7-F257-A2DB-55CF-BE20AA428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AI Decision </a:t>
            </a:r>
            <a:r>
              <a:rPr lang="zh-CN" altLang="en-US" sz="2000" dirty="0"/>
              <a:t>？</a:t>
            </a:r>
            <a:br>
              <a:rPr lang="zh-CN" altLang="en-US" sz="2000" dirty="0"/>
            </a:br>
            <a:r>
              <a:rPr lang="en-US" altLang="zh-CN" sz="2000" dirty="0"/>
              <a:t>An AI Decision Tree is a simple way to describe how an AI makes decisions</a:t>
            </a:r>
            <a:br>
              <a:rPr lang="en-US" altLang="zh-CN" sz="2000" dirty="0"/>
            </a:br>
            <a:r>
              <a:rPr lang="en-US" altLang="zh-CN" sz="2000" dirty="0"/>
              <a:t>by asking a sequence of yes-or-no questions.</a:t>
            </a:r>
            <a:br>
              <a:rPr lang="en-US" altLang="zh-CN" sz="2000" dirty="0"/>
            </a:br>
            <a:r>
              <a:rPr lang="en-US" altLang="zh-CN" sz="2000" dirty="0"/>
              <a:t>Instead of “thinking” freely, the AI follows a clear structure:</a:t>
            </a:r>
            <a:br>
              <a:rPr lang="en-US" altLang="zh-CN" sz="2000" dirty="0"/>
            </a:br>
            <a:r>
              <a:rPr lang="en-US" altLang="zh-CN" sz="2000" dirty="0"/>
              <a:t>Check a condition</a:t>
            </a:r>
            <a:br>
              <a:rPr lang="en-US" altLang="zh-CN" sz="2000" dirty="0"/>
            </a:br>
            <a:r>
              <a:rPr lang="en-US" altLang="zh-CN" sz="2000" dirty="0"/>
              <a:t>Based on the result, choose one action</a:t>
            </a:r>
            <a:br>
              <a:rPr lang="en-US" altLang="zh-CN" sz="2000" dirty="0"/>
            </a:br>
            <a:r>
              <a:rPr lang="en-US" altLang="zh-CN" sz="2000" dirty="0"/>
              <a:t>Repeat this process continuously</a:t>
            </a:r>
            <a:br>
              <a:rPr lang="en-US" altLang="zh-CN" sz="2000" dirty="0"/>
            </a:b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13986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5E29B93-769C-BB9C-105E-630A560C2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 altLang="zh-CN" sz="6600"/>
          </a:p>
        </p:txBody>
      </p:sp>
      <p:pic>
        <p:nvPicPr>
          <p:cNvPr id="8" name="內容版面配置區 7" descr="一張含有 寫生, 圖畫, 美工圖案, 線條藝術 的圖片&#10;&#10;AI 產生的內容可能不正確。">
            <a:extLst>
              <a:ext uri="{FF2B5EF4-FFF2-40B4-BE49-F238E27FC236}">
                <a16:creationId xmlns:a16="http://schemas.microsoft.com/office/drawing/2014/main" id="{1DDF2D43-39B7-DB43-8090-956BF19A07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20040" y="271839"/>
            <a:ext cx="5614416" cy="304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圖片 9" descr="一張含有 文字, 筆跡, 寫生, 圖畫 的圖片&#10;&#10;AI 產生的內容可能不正確。">
            <a:extLst>
              <a:ext uri="{FF2B5EF4-FFF2-40B4-BE49-F238E27FC236}">
                <a16:creationId xmlns:a16="http://schemas.microsoft.com/office/drawing/2014/main" id="{90A58E40-67CF-1576-947B-F647C4EEC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99910"/>
            <a:ext cx="5614416" cy="3017748"/>
          </a:xfrm>
          <a:prstGeom prst="rect">
            <a:avLst/>
          </a:prstGeom>
        </p:spPr>
      </p:pic>
      <p:sp>
        <p:nvSpPr>
          <p:cNvPr id="1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圖片 11" descr="一張含有 圖畫, 寫生, 線條藝術, 卡通 的圖片&#10;&#10;AI 產生的內容可能不正確。">
            <a:extLst>
              <a:ext uri="{FF2B5EF4-FFF2-40B4-BE49-F238E27FC236}">
                <a16:creationId xmlns:a16="http://schemas.microsoft.com/office/drawing/2014/main" id="{0D5DE13C-3CCE-5C98-A0A3-1370DA67B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0798" y="3512272"/>
            <a:ext cx="5750403" cy="304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99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 descr="一張含有 寫生, 線條藝術, 圖畫, 卡通 的圖片&#10;&#10;AI 產生的內容可能不正確。">
            <a:extLst>
              <a:ext uri="{FF2B5EF4-FFF2-40B4-BE49-F238E27FC236}">
                <a16:creationId xmlns:a16="http://schemas.microsoft.com/office/drawing/2014/main" id="{6055EBB1-2AA8-CD0D-C2C3-C66FE88D17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1556" y="643466"/>
            <a:ext cx="584888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381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261D78A-350A-54CA-F851-CD81F496B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endParaRPr lang="zh-CN" altLang="en-US" sz="40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FDFFD1-FED6-028D-2378-A8D319BC1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AI thinking?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games, AI does not “think” like humans.</a:t>
            </a:r>
            <a:b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Instead, it constantly asks simple questions about the current situation: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 see the player?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player close or far?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I attack, or should I patrol?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answers to these questions, the AI chooses one action to execute.</a:t>
            </a:r>
          </a:p>
          <a:p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寫生, 美工圖案, 線條藝術, 卡通 的圖片&#10;&#10;AI 產生的內容可能不正確。">
            <a:extLst>
              <a:ext uri="{FF2B5EF4-FFF2-40B4-BE49-F238E27FC236}">
                <a16:creationId xmlns:a16="http://schemas.microsoft.com/office/drawing/2014/main" id="{2C29443F-D9AE-49AE-D8CF-E5A4CD7669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89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583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E98B8B0-573C-43DD-85FE-31433D570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263" y="3986129"/>
            <a:ext cx="6288261" cy="2253231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rgbClr val="EFEF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圖片 10" descr="一張含有 圖畫, 寫生, 線條藝術, 美工圖案 的圖片&#10;&#10;AI 產生的內容可能不正確。">
            <a:extLst>
              <a:ext uri="{FF2B5EF4-FFF2-40B4-BE49-F238E27FC236}">
                <a16:creationId xmlns:a16="http://schemas.microsoft.com/office/drawing/2014/main" id="{A8847F89-5257-EE9D-DDAE-2B3EB5DB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5480"/>
          <a:stretch>
            <a:fillRect/>
          </a:stretch>
        </p:blipFill>
        <p:spPr>
          <a:xfrm>
            <a:off x="7739378" y="4549140"/>
            <a:ext cx="4471952" cy="224027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370" y="47845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07046" y="5103601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圖片 8" descr="一張含有 寫生, 圖畫, 線條藝術, 文字 的圖片&#10;&#10;AI 產生的內容可能不正確。">
            <a:extLst>
              <a:ext uri="{FF2B5EF4-FFF2-40B4-BE49-F238E27FC236}">
                <a16:creationId xmlns:a16="http://schemas.microsoft.com/office/drawing/2014/main" id="{2ED2C60E-6C35-5CD9-92CB-45DB9B6FC8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7230"/>
          <a:stretch>
            <a:fillRect/>
          </a:stretch>
        </p:blipFill>
        <p:spPr>
          <a:xfrm>
            <a:off x="7720049" y="2308860"/>
            <a:ext cx="4471952" cy="2240280"/>
          </a:xfrm>
          <a:prstGeom prst="rect">
            <a:avLst/>
          </a:prstGeom>
        </p:spPr>
      </p:pic>
      <p:pic>
        <p:nvPicPr>
          <p:cNvPr id="7" name="圖片 6" descr="一張含有 寫生, 圖畫, 線條藝術, 文字 的圖片&#10;&#10;AI 產生的內容可能不正確。">
            <a:extLst>
              <a:ext uri="{FF2B5EF4-FFF2-40B4-BE49-F238E27FC236}">
                <a16:creationId xmlns:a16="http://schemas.microsoft.com/office/drawing/2014/main" id="{B52AB551-0A5B-FD94-AA99-F567A23CAF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" b="7658"/>
          <a:stretch>
            <a:fillRect/>
          </a:stretch>
        </p:blipFill>
        <p:spPr>
          <a:xfrm>
            <a:off x="7720049" y="34290"/>
            <a:ext cx="4471957" cy="2240280"/>
          </a:xfrm>
          <a:prstGeom prst="rect">
            <a:avLst/>
          </a:prstGeom>
        </p:spPr>
      </p:pic>
      <p:pic>
        <p:nvPicPr>
          <p:cNvPr id="5" name="圖片 4" descr="一張含有 寫生, 圖畫, 線條藝術, 藝術 的圖片&#10;&#10;AI 產生的內容可能不正確。">
            <a:extLst>
              <a:ext uri="{FF2B5EF4-FFF2-40B4-BE49-F238E27FC236}">
                <a16:creationId xmlns:a16="http://schemas.microsoft.com/office/drawing/2014/main" id="{FF3A7B02-C620-795B-4297-D836561231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510" r="19755" b="1"/>
          <a:stretch>
            <a:fillRect/>
          </a:stretch>
        </p:blipFill>
        <p:spPr>
          <a:xfrm>
            <a:off x="38662" y="10"/>
            <a:ext cx="764272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804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4BA7EE7-3763-7A1B-07D7-544B17679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altLang="zh-CN" sz="5400" b="1"/>
              <a:t>The Power of Scale: Infinite Possibilities</a:t>
            </a:r>
            <a:br>
              <a:rPr lang="en-US" altLang="zh-CN" sz="5400"/>
            </a:br>
            <a:endParaRPr lang="zh-CN" altLang="en-US" sz="5400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內容版面配置區 2">
            <a:extLst>
              <a:ext uri="{FF2B5EF4-FFF2-40B4-BE49-F238E27FC236}">
                <a16:creationId xmlns:a16="http://schemas.microsoft.com/office/drawing/2014/main" id="{7309D188-51DB-F4EC-7B37-2F37603D74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840005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7614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28614DF4-B25B-09E5-BA1A-BBFB921BD2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44" r="45281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C78A7AA-EE54-6B5F-6CA0-81B8B5A5A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altLang="zh-CN" sz="3400" b="1"/>
              <a:t>Beyond Gaming: Behavior Trees in Robotics</a:t>
            </a:r>
            <a:br>
              <a:rPr lang="en-US" altLang="zh-CN" sz="3400"/>
            </a:br>
            <a:endParaRPr lang="zh-CN" altLang="en-US" sz="3400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3107DE2D-AAC0-0D93-2CC4-0B77EF367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US" altLang="zh-CN" sz="1400" b="1"/>
              <a:t>The Challenge:</a:t>
            </a:r>
            <a:r>
              <a:rPr lang="en-US" altLang="zh-CN" sz="1400"/>
              <a:t> Real-world environments are unpredictable (unlike static game maps).</a:t>
            </a:r>
          </a:p>
          <a:p>
            <a:r>
              <a:rPr lang="en-US" altLang="zh-CN" sz="1400" b="1"/>
              <a:t>The Solution:</a:t>
            </a:r>
            <a:r>
              <a:rPr lang="en-US" altLang="zh-CN" sz="1400"/>
              <a:t> Behavior Trees provide </a:t>
            </a:r>
            <a:r>
              <a:rPr lang="en-US" altLang="zh-CN" sz="1400" b="1"/>
              <a:t>Reactive Planning</a:t>
            </a:r>
            <a:r>
              <a:rPr lang="en-US" altLang="zh-CN" sz="1400"/>
              <a:t>.</a:t>
            </a:r>
          </a:p>
          <a:p>
            <a:pPr lvl="1"/>
            <a:r>
              <a:rPr lang="en-US" altLang="zh-CN" sz="1400"/>
              <a:t>They allow machines to switch tasks instantly when conditions change.</a:t>
            </a:r>
          </a:p>
          <a:p>
            <a:r>
              <a:rPr lang="en-US" altLang="zh-CN" sz="1400" b="1"/>
              <a:t>Use Case: Autonomous Warehouse Robots</a:t>
            </a:r>
            <a:endParaRPr lang="en-US" altLang="zh-CN" sz="1400"/>
          </a:p>
          <a:p>
            <a:pPr lvl="1"/>
            <a:r>
              <a:rPr lang="en-US" altLang="zh-CN" sz="1400" i="1"/>
              <a:t>Task:</a:t>
            </a:r>
            <a:r>
              <a:rPr lang="en-US" altLang="zh-CN" sz="1400"/>
              <a:t> "Retrieve Package."</a:t>
            </a:r>
          </a:p>
          <a:p>
            <a:pPr lvl="1"/>
            <a:r>
              <a:rPr lang="en-US" altLang="zh-CN" sz="1400" i="1"/>
              <a:t>Interruption:</a:t>
            </a:r>
            <a:r>
              <a:rPr lang="en-US" altLang="zh-CN" sz="1400"/>
              <a:t> "Obstacle Detected" or "Low Battery."</a:t>
            </a:r>
          </a:p>
          <a:p>
            <a:pPr lvl="1"/>
            <a:r>
              <a:rPr lang="en-US" altLang="zh-CN" sz="1400" i="1"/>
              <a:t>Reaction:</a:t>
            </a:r>
            <a:r>
              <a:rPr lang="en-US" altLang="zh-CN" sz="1400"/>
              <a:t> The tree switches branches from </a:t>
            </a:r>
            <a:r>
              <a:rPr lang="en-US" altLang="zh-CN" sz="1400" b="1"/>
              <a:t>[Move]</a:t>
            </a:r>
            <a:r>
              <a:rPr lang="en-US" altLang="zh-CN" sz="1400"/>
              <a:t> to </a:t>
            </a:r>
            <a:r>
              <a:rPr lang="en-US" altLang="zh-CN" sz="1400" b="1"/>
              <a:t>[Wait]</a:t>
            </a:r>
            <a:r>
              <a:rPr lang="en-US" altLang="zh-CN" sz="1400"/>
              <a:t> or </a:t>
            </a:r>
            <a:r>
              <a:rPr lang="en-US" altLang="zh-CN" sz="1400" b="1"/>
              <a:t>[Recharge]</a:t>
            </a:r>
            <a:r>
              <a:rPr lang="en-US" altLang="zh-CN" sz="1400"/>
              <a:t>.</a:t>
            </a:r>
          </a:p>
          <a:p>
            <a:r>
              <a:rPr lang="en-US" altLang="zh-CN" sz="1400" b="1"/>
              <a:t>Industry Adoption:</a:t>
            </a:r>
            <a:r>
              <a:rPr lang="en-US" altLang="zh-CN" sz="1400"/>
              <a:t> Now a standard in </a:t>
            </a:r>
            <a:r>
              <a:rPr lang="en-US" altLang="zh-CN" sz="1400" b="1"/>
              <a:t>ROS (Robot Operating System)</a:t>
            </a:r>
            <a:r>
              <a:rPr lang="en-US" altLang="zh-CN" sz="1400"/>
              <a:t> and used in NASA Mars Rover mission planning.</a:t>
            </a:r>
          </a:p>
          <a:p>
            <a:endParaRPr lang="zh-CN" altLang="en-US" sz="140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0E666BB-45AC-585B-4412-C1CBAA484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54" y="4107681"/>
            <a:ext cx="5129744" cy="2750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479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317</Words>
  <Application>Microsoft Office PowerPoint</Application>
  <PresentationFormat>寬螢幕</PresentationFormat>
  <Paragraphs>24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Arial</vt:lpstr>
      <vt:lpstr>Calibri</vt:lpstr>
      <vt:lpstr>Times New Roman</vt:lpstr>
      <vt:lpstr>Office 佈景主題</vt:lpstr>
      <vt:lpstr>AI Behavior Tree</vt:lpstr>
      <vt:lpstr>AI Behavior Tree</vt:lpstr>
      <vt:lpstr>PowerPoint 簡報</vt:lpstr>
      <vt:lpstr>PowerPoint 簡報</vt:lpstr>
      <vt:lpstr>PowerPoint 簡報</vt:lpstr>
      <vt:lpstr>PowerPoint 簡報</vt:lpstr>
      <vt:lpstr>The Power of Scale: Infinite Possibilities </vt:lpstr>
      <vt:lpstr>Beyond Gaming: Behavior Trees in Robotics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Zening Teng</dc:creator>
  <cp:lastModifiedBy>Zening Teng</cp:lastModifiedBy>
  <cp:revision>1</cp:revision>
  <dcterms:created xsi:type="dcterms:W3CDTF">2025-12-09T21:36:24Z</dcterms:created>
  <dcterms:modified xsi:type="dcterms:W3CDTF">2025-12-10T02:56:19Z</dcterms:modified>
</cp:coreProperties>
</file>